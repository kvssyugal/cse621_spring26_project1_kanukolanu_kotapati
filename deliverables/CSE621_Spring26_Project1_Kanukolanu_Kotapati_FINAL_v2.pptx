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88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visuals used.)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visuals used.)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visuals used.)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visuals used.)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visuals used.)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visuals used.)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visuals used.)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CSE621 • Spring 2026 • Project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Sentiment Classification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 Movie Reviews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Systematic evaluation of preprocessing, feature selection, classifiers, and ensembling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2948940"/>
            <a:ext cx="11064240" cy="24688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  <a:effectLst>
            <a:outerShdw blurRad="38100" dist="127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Yugal Kanukolanu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Varshika Kotapati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34560" y="3154680"/>
            <a:ext cx="678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Links</a:t>
            </a:r>
          </a:p>
        </p:txBody>
      </p:sp>
      <p:sp>
        <p:nvSpPr>
          <p:cNvPr id="10" name="Text 8"/>
          <p:cNvSpPr/>
          <p:nvPr/>
        </p:nvSpPr>
        <p:spPr>
          <a:xfrm>
            <a:off x="4622800" y="3520440"/>
            <a:ext cx="6929120" cy="171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Video: Public link included on Page 1 of submitted report</a:t>
            </a:r>
          </a:p>
          <a:p>
            <a:r>
              <a:rPr dirty="0">
                <a:solidFill>
                  <a:schemeClr val="bg2"/>
                </a:solidFill>
              </a:rPr>
              <a:t>Code:  https://</a:t>
            </a:r>
            <a:r>
              <a:rPr dirty="0" err="1">
                <a:solidFill>
                  <a:schemeClr val="bg2"/>
                </a:solidFill>
              </a:rPr>
              <a:t>github.com</a:t>
            </a:r>
            <a:r>
              <a:rPr dirty="0">
                <a:solidFill>
                  <a:schemeClr val="bg2"/>
                </a:solidFill>
              </a:rPr>
              <a:t>/</a:t>
            </a:r>
            <a:r>
              <a:rPr dirty="0" err="1">
                <a:solidFill>
                  <a:schemeClr val="bg2"/>
                </a:solidFill>
              </a:rPr>
              <a:t>kvssyugal</a:t>
            </a:r>
            <a:r>
              <a:rPr dirty="0">
                <a:solidFill>
                  <a:schemeClr val="bg2"/>
                </a:solidFill>
              </a:rPr>
              <a:t>/CSE621_Spring26_Project1_Kanukolanu_Kotapati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Date: February 16,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Objective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440680" cy="5532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  <a:effectLst>
            <a:outerShdw blurRad="38100" dist="127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234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movie reviews as Positive vs Negative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contains negation, mixed sentiment, and noise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a fair, reproducible comparison across pipelines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55080" y="1005840"/>
            <a:ext cx="5349240" cy="5532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  <a:effectLst>
            <a:outerShdw blurRad="38100" dist="127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75120" y="1234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did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75120" y="1691640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Compared ≥3 preprocessing variants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Compared ≥2 feature selection methods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Trained ≥3 classifiers with tuning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≥1 ensemble and compared fairly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&amp; Preprocessing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1064240" cy="18745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  <a:effectLst>
            <a:outerShdw blurRad="38100" dist="127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2344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Dataset: IMDb 50K Movie Reviews (50,000 labeled reviews; binary sentiment). Official split: 25,000 train / 25,000 test; 5-fold CV on train for tuning.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486400" cy="34747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  <a:effectLst>
            <a:outerShdw blurRad="38100" dist="127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variants (≥3)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749040"/>
            <a:ext cx="493776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Lowercasing + punctuation cleanup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Stopword removal / normalization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Stemming or lemmatization (optional)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N-grams (uni vs uni+bi) as a preprocessing choice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3063240"/>
            <a:ext cx="5349240" cy="34747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  <a:effectLst>
            <a:outerShdw blurRad="38100" dist="127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675120" y="3291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 representation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3749040"/>
            <a:ext cx="4709160" cy="1249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(word) — unigram / bigram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(character) — 3–5 grams (optional)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same evaluation protocol across runs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Selection &amp; Models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486400" cy="5532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  <a:effectLst>
            <a:outerShdw blurRad="38100" dist="127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234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selection (≥2)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493776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Chi-square (SelectKBest)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Mutual Information (SelectKBest)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Alternative: Top-N by frequency (max_features)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how k/top-N affects performance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005840"/>
            <a:ext cx="5349240" cy="5532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  <a:effectLst>
            <a:outerShdw blurRad="38100" dist="127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75120" y="1234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Classifiers (≥3) + tuning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1691640"/>
            <a:ext cx="470916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Multinomial Naive Bayes (alpha)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SVM / LinearSVC (C)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SGDClassifier (alpha / regularization)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“best config table” with metrics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120" y="5303520"/>
            <a:ext cx="4709160" cy="1005840"/>
          </a:xfrm>
          <a:prstGeom prst="rect">
            <a:avLst/>
          </a:prstGeom>
          <a:solidFill>
            <a:srgbClr val="0E2433"/>
          </a:solidFill>
          <a:ln w="12700">
            <a:solidFill>
              <a:srgbClr val="2231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812280" y="54406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(≥1): Stacking / Voting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to best non-ensemble fairly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Protocol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1064240" cy="27432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  <a:effectLst>
            <a:outerShdw blurRad="38100" dist="127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2344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evaluated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split or K-fold cross-validation (be consistent)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metric: Weighted F1 (also report accuracy)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preprocessing + selection pipeline inside training only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mean ± std for CV (if used)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11064240" cy="265176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  <a:effectLst>
            <a:outerShdw blurRad="38100" dist="127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0120" y="41148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show in the report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457200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table across preprocessing &amp; selection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per-model hyperparameters + results table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vs best single model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1–2 short takeaways from error analysis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1704"/>
            <a:ext cx="12191695" cy="594360"/>
          </a:xfrm>
          <a:prstGeom prst="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1064240" cy="5532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  <a:effectLst>
            <a:outerShdw blurRad="38100" dist="127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234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metrics from our experiments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60120" y="1828800"/>
            <a:ext cx="9326880" cy="548640"/>
          </a:xfrm>
          <a:prstGeom prst="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43000" y="1965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B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B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7532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B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F1 (weighted)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2377440"/>
            <a:ext cx="9326880" cy="548640"/>
          </a:xfrm>
          <a:prstGeom prst="rect">
            <a:avLst/>
          </a:prstGeom>
          <a:solidFill>
            <a:srgbClr val="0E182B"/>
          </a:solidFill>
          <a:ln w="12700">
            <a:solidFill>
              <a:srgbClr val="2231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MultinomialNB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0.8872</a:t>
            </a:r>
          </a:p>
        </p:txBody>
      </p:sp>
      <p:sp>
        <p:nvSpPr>
          <p:cNvPr id="13" name="Text 11"/>
          <p:cNvSpPr/>
          <p:nvPr/>
        </p:nvSpPr>
        <p:spPr>
          <a:xfrm>
            <a:off x="845820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0.8865</a:t>
            </a:r>
          </a:p>
        </p:txBody>
      </p:sp>
      <p:sp>
        <p:nvSpPr>
          <p:cNvPr id="14" name="Shape 12"/>
          <p:cNvSpPr/>
          <p:nvPr/>
        </p:nvSpPr>
        <p:spPr>
          <a:xfrm>
            <a:off x="960120" y="2926080"/>
            <a:ext cx="9326880" cy="548640"/>
          </a:xfrm>
          <a:prstGeom prst="rect">
            <a:avLst/>
          </a:prstGeom>
          <a:solidFill>
            <a:srgbClr val="0E182B"/>
          </a:solidFill>
          <a:ln w="12700">
            <a:solidFill>
              <a:srgbClr val="2231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143000" y="3063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LinearSVC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0.9023</a:t>
            </a:r>
          </a:p>
        </p:txBody>
      </p:sp>
      <p:sp>
        <p:nvSpPr>
          <p:cNvPr id="17" name="Text 15"/>
          <p:cNvSpPr/>
          <p:nvPr/>
        </p:nvSpPr>
        <p:spPr>
          <a:xfrm>
            <a:off x="845820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0.9017</a:t>
            </a:r>
          </a:p>
        </p:txBody>
      </p:sp>
      <p:sp>
        <p:nvSpPr>
          <p:cNvPr id="18" name="Shape 16"/>
          <p:cNvSpPr/>
          <p:nvPr/>
        </p:nvSpPr>
        <p:spPr>
          <a:xfrm>
            <a:off x="960120" y="3474720"/>
            <a:ext cx="9326880" cy="548640"/>
          </a:xfrm>
          <a:prstGeom prst="rect">
            <a:avLst/>
          </a:prstGeom>
          <a:solidFill>
            <a:srgbClr val="0E182B"/>
          </a:solidFill>
          <a:ln w="12700">
            <a:solidFill>
              <a:srgbClr val="2231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143000" y="3611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SGDClassifier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0.9054</a:t>
            </a:r>
          </a:p>
        </p:txBody>
      </p:sp>
      <p:sp>
        <p:nvSpPr>
          <p:cNvPr id="21" name="Text 19"/>
          <p:cNvSpPr/>
          <p:nvPr/>
        </p:nvSpPr>
        <p:spPr>
          <a:xfrm>
            <a:off x="845820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0.9050</a:t>
            </a:r>
          </a:p>
        </p:txBody>
      </p:sp>
      <p:sp>
        <p:nvSpPr>
          <p:cNvPr id="22" name="Shape 20"/>
          <p:cNvSpPr/>
          <p:nvPr/>
        </p:nvSpPr>
        <p:spPr>
          <a:xfrm>
            <a:off x="960120" y="4023360"/>
            <a:ext cx="9326880" cy="548640"/>
          </a:xfrm>
          <a:prstGeom prst="rect">
            <a:avLst/>
          </a:prstGeom>
          <a:solidFill>
            <a:srgbClr val="0E182B"/>
          </a:solidFill>
          <a:ln w="12700">
            <a:solidFill>
              <a:srgbClr val="2231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14300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(Stacking/Voting)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0.9081</a:t>
            </a:r>
          </a:p>
        </p:txBody>
      </p:sp>
      <p:sp>
        <p:nvSpPr>
          <p:cNvPr id="25" name="Text 23"/>
          <p:cNvSpPr/>
          <p:nvPr/>
        </p:nvSpPr>
        <p:spPr>
          <a:xfrm>
            <a:off x="845820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0.9075</a:t>
            </a:r>
          </a:p>
        </p:txBody>
      </p:sp>
      <p:sp>
        <p:nvSpPr>
          <p:cNvPr id="26" name="Text 24"/>
          <p:cNvSpPr/>
          <p:nvPr/>
        </p:nvSpPr>
        <p:spPr>
          <a:xfrm>
            <a:off x="960120" y="53949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The stacking ensemble slightly outperformed the best single model, confirming that combining complementary base learners improved robustness.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1064240" cy="5532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14D"/>
            </a:solidFill>
            <a:prstDash val="solid"/>
          </a:ln>
          <a:effectLst>
            <a:outerShdw blurRad="38100" dist="127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3 Takeaways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0332720" cy="1615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choices (preprocessing + features) can matter as much as the classifier</a:t>
            </a:r>
            <a:endParaRPr lang="en-US" sz="2200" dirty="0"/>
          </a:p>
          <a:p>
            <a:pPr marL="251460" indent="-251460"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evaluation (same splits, no leakage) is critical for believable comparisons</a:t>
            </a:r>
            <a:endParaRPr lang="en-US" sz="2200" dirty="0"/>
          </a:p>
          <a:p>
            <a:pPr marL="251460" indent="-251460"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Ensembling helps when base models make different mistakes (validate it fairly)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5989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A7B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598</Words>
  <Application>Microsoft Macintosh PowerPoint</Application>
  <PresentationFormat>Widescreen</PresentationFormat>
  <Paragraphs>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Yugal Kanukolanu &amp; Varshika Kotapati</dc:creator>
  <cp:lastModifiedBy>Kanukolanu, Yugal</cp:lastModifiedBy>
  <cp:revision>2</cp:revision>
  <dcterms:created xsi:type="dcterms:W3CDTF">2026-02-17T01:16:27Z</dcterms:created>
  <dcterms:modified xsi:type="dcterms:W3CDTF">2026-02-17T01:33:09Z</dcterms:modified>
</cp:coreProperties>
</file>